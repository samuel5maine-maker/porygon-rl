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roxima Nova"/>
      <p:regular r:id="rId20"/>
      <p:bold r:id="rId21"/>
      <p:italic r:id="rId22"/>
      <p:boldItalic r:id="rId23"/>
    </p:embeddedFont>
    <p:embeddedFont>
      <p:font typeface="Alfa Slab On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311832-D379-4EC3-A2C3-77A6CAA9CAD2}">
  <a:tblStyle styleId="{FD311832-D379-4EC3-A2C3-77A6CAA9C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AlfaSlabOne-regular.fntdata"/><Relationship Id="rId23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e6404b4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e6404b4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e6404b43d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e6404b43d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6404b43d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e6404b43d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6404b43d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e6404b43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e6404b43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e6404b43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e6404b43d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e6404b43d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e6404b43d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e6404b43d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e6404b43d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e6404b43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6404b43d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e6404b43d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6404b43d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6404b43d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6404b43d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e6404b43d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6404b43d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6404b43d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ode.js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eraser.io/diagramgpt" TargetMode="External"/><Relationship Id="rId22" Type="http://schemas.openxmlformats.org/officeDocument/2006/relationships/hyperlink" Target="https://archives.bulbagarden.net/media/upload/b/b8/0233Porygon2.png" TargetMode="External"/><Relationship Id="rId21" Type="http://schemas.openxmlformats.org/officeDocument/2006/relationships/hyperlink" Target="https://archives.bulbagarden.net/media/upload/b/b8/0233Porygon2.png" TargetMode="External"/><Relationship Id="rId24" Type="http://schemas.openxmlformats.org/officeDocument/2006/relationships/hyperlink" Target="https://upload.wikimedia.org/wikipedia/commons/thumb/1/1b/Reinforcement_learning_diagram.svg/500px-Reinforcement_learning_diagram.svg.png" TargetMode="External"/><Relationship Id="rId23" Type="http://schemas.openxmlformats.org/officeDocument/2006/relationships/hyperlink" Target="https://upload.wikimedia.org/wikipedia/commons/thumb/1/1b/Reinforcement_learning_diagram.svg/500px-Reinforcement_learning_diagram.svg.pn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ble-baselines3.readthedocs.io/en/master/" TargetMode="External"/><Relationship Id="rId4" Type="http://schemas.openxmlformats.org/officeDocument/2006/relationships/hyperlink" Target="https://stable-baselines3.readthedocs.io/en/master/" TargetMode="External"/><Relationship Id="rId9" Type="http://schemas.openxmlformats.org/officeDocument/2006/relationships/hyperlink" Target="https://github.com/hsahovic/poke-env?utm_source=chatgpt.com" TargetMode="External"/><Relationship Id="rId25" Type="http://schemas.openxmlformats.org/officeDocument/2006/relationships/hyperlink" Target="https://archives.bulbagarden.net/media/upload/thumb/b/b6/HOME0474.png/200px-HOME0474.png" TargetMode="External"/><Relationship Id="rId5" Type="http://schemas.openxmlformats.org/officeDocument/2006/relationships/hyperlink" Target="https://stable-baselines3.readthedocs.io/en/master/" TargetMode="External"/><Relationship Id="rId6" Type="http://schemas.openxmlformats.org/officeDocument/2006/relationships/hyperlink" Target="https://nodejs.org/en/" TargetMode="External"/><Relationship Id="rId7" Type="http://schemas.openxmlformats.org/officeDocument/2006/relationships/hyperlink" Target="https://nodejs.org/en/" TargetMode="External"/><Relationship Id="rId8" Type="http://schemas.openxmlformats.org/officeDocument/2006/relationships/hyperlink" Target="https://github.com/hsahovic/poke-env?utm_source=chatgpt.com" TargetMode="External"/><Relationship Id="rId11" Type="http://schemas.openxmlformats.org/officeDocument/2006/relationships/hyperlink" Target="https://pokemondb.net/type" TargetMode="External"/><Relationship Id="rId10" Type="http://schemas.openxmlformats.org/officeDocument/2006/relationships/hyperlink" Target="https://pokemondb.net/type" TargetMode="External"/><Relationship Id="rId13" Type="http://schemas.openxmlformats.org/officeDocument/2006/relationships/hyperlink" Target="https://www.geeksforgeeks.org/deep-learning/deep-q-learning/" TargetMode="External"/><Relationship Id="rId12" Type="http://schemas.openxmlformats.org/officeDocument/2006/relationships/hyperlink" Target="https://www.geeksforgeeks.org/deep-learning/deep-q-learning/" TargetMode="External"/><Relationship Id="rId15" Type="http://schemas.openxmlformats.org/officeDocument/2006/relationships/hyperlink" Target="https://static.wikia.nocookie.net/pokemon/images/8/8e/0137Porygon.png/revision/latest/scale-to-width-down/1200?cb=20240724205447" TargetMode="External"/><Relationship Id="rId14" Type="http://schemas.openxmlformats.org/officeDocument/2006/relationships/hyperlink" Target="https://encrypted-tbn0.gstatic.com/images?q=tbn:ANd9GcTXyypcG4qtUFScv-xo7UNzvqdEyAHhb40w4Q&amp;s" TargetMode="External"/><Relationship Id="rId17" Type="http://schemas.openxmlformats.org/officeDocument/2006/relationships/hyperlink" Target="https://www.draxlr.com/tools/bar-chart-generator/" TargetMode="External"/><Relationship Id="rId16" Type="http://schemas.openxmlformats.org/officeDocument/2006/relationships/hyperlink" Target="https://static.wikia.nocookie.net/pokemon/images/8/8e/0137Porygon.png/revision/latest/scale-to-width-down/1200?cb=20240724205447" TargetMode="External"/><Relationship Id="rId19" Type="http://schemas.openxmlformats.org/officeDocument/2006/relationships/hyperlink" Target="https://www.eraser.io/diagramgpt" TargetMode="External"/><Relationship Id="rId18" Type="http://schemas.openxmlformats.org/officeDocument/2006/relationships/hyperlink" Target="https://www.draxlr.com/tools/bar-chart-generato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96825" y="2292600"/>
            <a:ext cx="39594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40"/>
              <a:t>Porygon-RL: A Pokemon Showdown Reinforcement Learning Agent</a:t>
            </a:r>
            <a:endParaRPr sz="3640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325" y="527300"/>
            <a:ext cx="4465999" cy="28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0075" y="2519725"/>
            <a:ext cx="1955525" cy="19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 rot="-1582912">
            <a:off x="7471209" y="3639878"/>
            <a:ext cx="1342855" cy="92345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A2EF38"/>
                </a:solidFill>
                <a:latin typeface="Impact"/>
                <a:ea typeface="Impact"/>
                <a:cs typeface="Impact"/>
                <a:sym typeface="Impact"/>
              </a:rPr>
              <a:t>RL</a:t>
            </a:r>
            <a:endParaRPr b="1" sz="4800">
              <a:solidFill>
                <a:srgbClr val="A2EF3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Overview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4726500" cy="3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wanted to pick a topic that aligned with my interests, and when I found Pokemon Showdown open source I thought it fit perfectly.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Poke-env was used to communicate with Showdown servers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Gymnasium was used to build the RL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Stable-Baselines3 was used to build the DQN agent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5788700" y="155475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880500" y="393375"/>
            <a:ext cx="22671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Showdown Servers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8" name="Google Shape;68;p14"/>
          <p:cNvCxnSpPr>
            <a:stCxn id="66" idx="2"/>
          </p:cNvCxnSpPr>
          <p:nvPr/>
        </p:nvCxnSpPr>
        <p:spPr>
          <a:xfrm flipH="1">
            <a:off x="6916850" y="1092975"/>
            <a:ext cx="5400" cy="29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stCxn id="70" idx="2"/>
            <a:endCxn id="71" idx="0"/>
          </p:cNvCxnSpPr>
          <p:nvPr/>
        </p:nvCxnSpPr>
        <p:spPr>
          <a:xfrm flipH="1">
            <a:off x="6919550" y="2327775"/>
            <a:ext cx="2700" cy="3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4"/>
          <p:cNvSpPr/>
          <p:nvPr/>
        </p:nvSpPr>
        <p:spPr>
          <a:xfrm>
            <a:off x="5788700" y="1390275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877800" y="2938275"/>
            <a:ext cx="20835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Poke Env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5786000" y="2700313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880500" y="1628175"/>
            <a:ext cx="20835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Gymnasium Env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786000" y="3935163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75" name="Google Shape;75;p14"/>
          <p:cNvCxnSpPr>
            <a:endCxn id="74" idx="0"/>
          </p:cNvCxnSpPr>
          <p:nvPr/>
        </p:nvCxnSpPr>
        <p:spPr>
          <a:xfrm flipH="1">
            <a:off x="6919550" y="3637863"/>
            <a:ext cx="1200" cy="29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4"/>
          <p:cNvSpPr txBox="1"/>
          <p:nvPr/>
        </p:nvSpPr>
        <p:spPr>
          <a:xfrm>
            <a:off x="6064100" y="4173075"/>
            <a:ext cx="20835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DQN Agent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174800" y="2938275"/>
            <a:ext cx="1678500" cy="2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Poke Env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&amp; DQN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05550"/>
            <a:ext cx="395273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0" y="1317288"/>
            <a:ext cx="4637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Framed each battle as a MDP</a:t>
            </a:r>
            <a:endParaRPr sz="2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(s, a, p(s’|s, a), R(s|a), 𝛾)</a:t>
            </a:r>
            <a:endParaRPr sz="2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Q-values were calculated using a Deep Q- Network.</a:t>
            </a:r>
            <a:endParaRPr sz="2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Loss is calculated against: </a:t>
            </a:r>
            <a:endParaRPr sz="23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y = r + </a:t>
            </a: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𝛾</a:t>
            </a:r>
            <a:r>
              <a:rPr lang="en" sz="23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argmaxQ(s', a')</a:t>
            </a:r>
            <a:b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b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b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 Setup &amp; Reflex Agents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315825"/>
            <a:ext cx="389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server was set up using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Node.JS</a:t>
            </a:r>
            <a:r>
              <a:rPr lang="en"/>
              <a:t>. And Simple Reflex Agents were built as training partners.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975" y="1152475"/>
            <a:ext cx="4629598" cy="2195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" name="Google Shape;92;p16"/>
          <p:cNvGraphicFramePr/>
          <p:nvPr/>
        </p:nvGraphicFramePr>
        <p:xfrm>
          <a:off x="532825" y="276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{FD311832-D379-4EC3-A2C3-77A6CAA9CAD2}</a:tableStyleId>
              </a:tblPr>
              <a:tblGrid>
                <a:gridCol w="1634225"/>
                <a:gridCol w="1634225"/>
              </a:tblGrid>
              <a:tr h="5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Agent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Damage Agent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6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Given a state s. Picks a random move in the action space 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Given a state s.</a:t>
                      </a:r>
                      <a:br>
                        <a:rPr lang="en"/>
                      </a:br>
                      <a:r>
                        <a:rPr lang="en"/>
                        <a:t>Picks action a that does the highest damage.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30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5 – Initial State &amp; Action Representation (v1)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131275" y="1338600"/>
            <a:ext cx="8758800" cy="32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 space was kept as a simple 10d-state including: Basepower of each move, type multiplier of each move. And fraction of pokemon remaining on each side.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s=</a:t>
            </a:r>
            <a:r>
              <a:rPr lang="en" sz="1500"/>
              <a:t>[BP1, BP2, BP3, BP4, TMult1, TMult2, TMult3, TMult4, Our Pkmn Remaining, Opp pkm remaining]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Action space was kept as a set of discrete actions {1 .. 26}.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Rewards were kept simple: +10 for winning (-10 for losing), +-2 for fainting a pokemon, +- %hp dealt/taken for damage.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Results were mixed: </a:t>
            </a:r>
            <a:r>
              <a:rPr lang="en" sz="1500">
                <a:solidFill>
                  <a:srgbClr val="9E9E9E"/>
                </a:solidFill>
                <a:latin typeface="Alfa Slab One"/>
                <a:ea typeface="Alfa Slab One"/>
                <a:cs typeface="Alfa Slab One"/>
                <a:sym typeface="Alfa Slab One"/>
              </a:rPr>
              <a:t>R =</a:t>
            </a:r>
            <a:r>
              <a:rPr lang="en" sz="1500">
                <a:latin typeface="Alfa Slab One"/>
                <a:ea typeface="Alfa Slab One"/>
                <a:cs typeface="Alfa Slab One"/>
                <a:sym typeface="Alfa Slab One"/>
              </a:rPr>
              <a:t> </a:t>
            </a:r>
            <a:r>
              <a:rPr lang="en" sz="1200">
                <a:solidFill>
                  <a:srgbClr val="9E9E9E"/>
                </a:solidFill>
                <a:latin typeface="Alfa Slab One"/>
                <a:ea typeface="Alfa Slab One"/>
                <a:cs typeface="Alfa Slab One"/>
                <a:sym typeface="Alfa Slab One"/>
              </a:rPr>
              <a:t>9.53 +/- 7.07,  for Random Agent,  R = -1.49 +/- 8.6. For Max Damage</a:t>
            </a:r>
            <a:endParaRPr sz="1500">
              <a:solidFill>
                <a:srgbClr val="9E9E9E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Upgrades: Porygon2-RL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675" y="853750"/>
            <a:ext cx="3282575" cy="328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 rot="-1662257">
            <a:off x="7148099" y="3133165"/>
            <a:ext cx="1342845" cy="12927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A2EF38"/>
                </a:solidFill>
                <a:latin typeface="Impact"/>
                <a:ea typeface="Impact"/>
                <a:cs typeface="Impact"/>
                <a:sym typeface="Impact"/>
              </a:rPr>
              <a:t>RL</a:t>
            </a:r>
            <a:endParaRPr b="1" sz="7200">
              <a:solidFill>
                <a:srgbClr val="A2EF3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217350" y="1177175"/>
            <a:ext cx="5068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Upgrades: </a:t>
            </a:r>
            <a:b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Expanded Observation Space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Implemented Action Mask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Improved Reward Function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Built Training Curriculum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Boosted Network Architecture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Added Win Rate for evaluation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 title="diagram-export-12-7-2025-10_42_54-PM.png"/>
          <p:cNvPicPr preferRelativeResize="0"/>
          <p:nvPr/>
        </p:nvPicPr>
        <p:blipFill rotWithShape="1">
          <a:blip r:embed="rId3">
            <a:alphaModFix/>
          </a:blip>
          <a:srcRect b="10706" l="0" r="0" t="0"/>
          <a:stretch/>
        </p:blipFill>
        <p:spPr>
          <a:xfrm>
            <a:off x="1003750" y="0"/>
            <a:ext cx="71365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88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Action Mask + New Rewards</a:t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1473050" y="1941200"/>
            <a:ext cx="5918100" cy="82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 </a:t>
            </a:r>
            <a:r>
              <a:rPr lang="en" sz="290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1 1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1 1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0 0 0 0</a:t>
            </a:r>
            <a:r>
              <a:rPr lang="en" sz="29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29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1 1 1</a:t>
            </a:r>
            <a:endParaRPr sz="29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1473000" y="1270125"/>
            <a:ext cx="619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Built action mask and implemented it via reward function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1333100" y="3264725"/>
            <a:ext cx="619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Added reward shaping: Increased value for fainted and reward to make more 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aggressive</a:t>
            </a:r>
            <a:r>
              <a:rPr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Slight negative rewatch for switching, Reward for using super effective moves, negative reward for using not very effective moves</a:t>
            </a:r>
            <a:endParaRPr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Implemented </a:t>
            </a:r>
            <a:r>
              <a:rPr lang="en"/>
              <a:t>training</a:t>
            </a:r>
            <a:r>
              <a:rPr lang="en"/>
              <a:t> Curriculum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456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Built a Training Curriculum that works as follows: Starts with Random Agent (100k steps) -&gt; Mixed Agent (100K steps) -&gt; Max Damage Agent (300k steps)</a:t>
            </a:r>
            <a:endParaRPr/>
          </a:p>
        </p:txBody>
      </p:sp>
      <p:cxnSp>
        <p:nvCxnSpPr>
          <p:cNvPr id="126" name="Google Shape;126;p21"/>
          <p:cNvCxnSpPr>
            <a:stCxn id="127" idx="2"/>
            <a:endCxn id="128" idx="0"/>
          </p:cNvCxnSpPr>
          <p:nvPr/>
        </p:nvCxnSpPr>
        <p:spPr>
          <a:xfrm flipH="1">
            <a:off x="6682800" y="2089975"/>
            <a:ext cx="2700" cy="37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1"/>
          <p:cNvSpPr/>
          <p:nvPr/>
        </p:nvSpPr>
        <p:spPr>
          <a:xfrm>
            <a:off x="5551950" y="1152475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643750" y="1390375"/>
            <a:ext cx="20835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Random Agent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5549250" y="2462513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641050" y="2700475"/>
            <a:ext cx="20835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Mixed Agent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5549250" y="3697363"/>
            <a:ext cx="2267100" cy="9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2" name="Google Shape;132;p21"/>
          <p:cNvCxnSpPr>
            <a:endCxn id="131" idx="0"/>
          </p:cNvCxnSpPr>
          <p:nvPr/>
        </p:nvCxnSpPr>
        <p:spPr>
          <a:xfrm flipH="1">
            <a:off x="6682800" y="3400063"/>
            <a:ext cx="1200" cy="297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1"/>
          <p:cNvSpPr txBox="1"/>
          <p:nvPr/>
        </p:nvSpPr>
        <p:spPr>
          <a:xfrm>
            <a:off x="5551950" y="3935275"/>
            <a:ext cx="2267100" cy="4617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Max Damage Agent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34" name="Google Shape;134;p21"/>
          <p:cNvGraphicFramePr/>
          <p:nvPr/>
        </p:nvGraphicFramePr>
        <p:xfrm>
          <a:off x="554375" y="287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{FD311832-D379-4EC3-A2C3-77A6CAA9CAD2}</a:tableStyleId>
              </a:tblPr>
              <a:tblGrid>
                <a:gridCol w="3580450"/>
              </a:tblGrid>
              <a:tr h="51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Mixed Agent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52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For each episode: Sample random variable Z with </a:t>
                      </a:r>
                      <a:r>
                        <a:rPr lang="en"/>
                        <a:t>probability</a:t>
                      </a:r>
                      <a:r>
                        <a:rPr lang="en"/>
                        <a:t> P(Z=1) = p, P(Z=0) = 1-p. If Z = 1 use policy for Random Agent, if Z=0 use policy for Mixed Agent.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Observations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412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Win Rate</a:t>
            </a:r>
            <a:r>
              <a:rPr lang="en" sz="2500"/>
              <a:t> for Random Agent: 100%</a:t>
            </a:r>
            <a:br>
              <a:rPr lang="en" sz="2500"/>
            </a:br>
            <a:br>
              <a:rPr lang="en" sz="2500"/>
            </a:br>
            <a:r>
              <a:rPr lang="en" sz="2500"/>
              <a:t>Win Rate</a:t>
            </a:r>
            <a:r>
              <a:rPr lang="en" sz="2500"/>
              <a:t> for Mixed Agent: 95%</a:t>
            </a:r>
            <a:br>
              <a:rPr lang="en" sz="2500"/>
            </a:br>
            <a:br>
              <a:rPr lang="en" sz="2500"/>
            </a:br>
            <a:r>
              <a:rPr lang="en" sz="2500"/>
              <a:t>Win Rate</a:t>
            </a:r>
            <a:r>
              <a:rPr lang="en" sz="2500"/>
              <a:t> for Max Damage Agent: 70%</a:t>
            </a:r>
            <a:endParaRPr sz="2500"/>
          </a:p>
        </p:txBody>
      </p:sp>
      <p:pic>
        <p:nvPicPr>
          <p:cNvPr id="141" name="Google Shape;141;p22" title="Graph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500" y="1358200"/>
            <a:ext cx="4530899" cy="30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283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+ Final Reflections and future directions</a:t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152475"/>
            <a:ext cx="412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and reflections: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RL may not be the best approach for this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</a:t>
            </a:r>
            <a:r>
              <a:rPr lang="en"/>
              <a:t>Time Step</a:t>
            </a:r>
            <a:r>
              <a:rPr lang="en"/>
              <a:t> count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4704900" y="1261700"/>
            <a:ext cx="412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Ideas: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 Play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Expanded Observation 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against Real Players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Search </a:t>
            </a:r>
            <a:r>
              <a:rPr lang="en"/>
              <a:t>Algorithm</a:t>
            </a:r>
            <a:r>
              <a:rPr lang="en"/>
              <a:t> Agent</a:t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950" y="2802900"/>
            <a:ext cx="2386975" cy="238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/>
          <p:nvPr/>
        </p:nvSpPr>
        <p:spPr>
          <a:xfrm rot="-1662041">
            <a:off x="1887767" y="4070511"/>
            <a:ext cx="1563721" cy="9542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A2EF38"/>
                </a:solidFill>
                <a:latin typeface="Impact"/>
                <a:ea typeface="Impact"/>
                <a:cs typeface="Impact"/>
                <a:sym typeface="Impact"/>
              </a:rPr>
              <a:t>RL</a:t>
            </a:r>
            <a:endParaRPr b="1" sz="5000">
              <a:solidFill>
                <a:srgbClr val="A2EF3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151" name="Google Shape;151;p23"/>
          <p:cNvCxnSpPr/>
          <p:nvPr/>
        </p:nvCxnSpPr>
        <p:spPr>
          <a:xfrm rot="10800000">
            <a:off x="3047300" y="4125525"/>
            <a:ext cx="1732500" cy="10800"/>
          </a:xfrm>
          <a:prstGeom prst="straightConnector1">
            <a:avLst/>
          </a:prstGeom>
          <a:noFill/>
          <a:ln cap="flat" cmpd="sng" w="76200">
            <a:solidFill>
              <a:srgbClr val="A2EF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3"/>
          <p:cNvSpPr txBox="1"/>
          <p:nvPr/>
        </p:nvSpPr>
        <p:spPr>
          <a:xfrm>
            <a:off x="4908925" y="3761475"/>
            <a:ext cx="380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A2EF38"/>
                </a:solidFill>
                <a:latin typeface="Proxima Nova"/>
                <a:ea typeface="Proxima Nova"/>
                <a:cs typeface="Proxima Nova"/>
                <a:sym typeface="Proxima Nova"/>
              </a:rPr>
              <a:t>Future</a:t>
            </a:r>
            <a:endParaRPr b="1" sz="3600">
              <a:solidFill>
                <a:srgbClr val="A2EF3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663" y="567613"/>
            <a:ext cx="8480675" cy="40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 + Images:</a:t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343000"/>
            <a:ext cx="471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Stable-Baselines3 documentation</a:t>
            </a:r>
            <a:endParaRPr b="1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Stable-Baselines3 Contributors,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Stable-Baselines3 Documentation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Available at:</a:t>
            </a:r>
            <a:r>
              <a:rPr lang="en" sz="10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https://stable-baselines3.readthedocs.io/en/master/</a:t>
            </a:r>
            <a:br>
              <a:rPr lang="en" sz="1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(accessed 7 Dec. 2025).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Node.js Foundation,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 – JavaScript Runtime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Available at:</a:t>
            </a:r>
            <a:r>
              <a:rPr lang="en" sz="10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https://nodejs.org/en/</a:t>
            </a:r>
            <a:endParaRPr sz="1000" u="sng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(accessed 7 Dec. 2025).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poke-env library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H. Sahovic,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poke-env: A Python Environment for Pokémon Showdown Bots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GitHub repository. Available at:</a:t>
            </a:r>
            <a:r>
              <a:rPr lang="en" sz="10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https://github.com/hsahovic/poke-env</a:t>
            </a:r>
            <a:endParaRPr sz="1000" u="sng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(accessed 7 Dec. 2025).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Pokémon type chart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Pokémon Database,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Chart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Available at:</a:t>
            </a:r>
            <a:r>
              <a:rPr lang="en" sz="10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https://pokemondb.net/type</a:t>
            </a:r>
            <a:endParaRPr sz="1000" u="sng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(accessed 7 Dec. 2025).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Mirkin (1996) – clustering book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B. G. Mirkin,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Mathematical Classification and Clustering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New York, NY: Springer, 1996.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CurriculumNet paper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S. Guo, W. Huang, H. Zhang, C. Zhuang, D. Dong, M. R. Scott, and D. Huang, “CurriculumNet: Weakly Supervised Learning from Large-Scale Web Images,”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arXiv preprint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arXiv:1808.01097, 2018.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Q-Learning article (GeeksforGeeks)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GeeksforGeeks, “Deep Q-Learning,” </a:t>
            </a:r>
            <a:r>
              <a:rPr i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GeeksforGeeks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Available at:</a:t>
            </a:r>
            <a:r>
              <a:rPr lang="en" sz="10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0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https://www.geeksforgeeks.org/deep-learning/deep-q-learning/</a:t>
            </a:r>
            <a:endParaRPr sz="1000" u="sng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(accessed 7 Dec. 2025).</a:t>
            </a: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Hinkelmann neural networks notes</a:t>
            </a:r>
            <a:br>
              <a:rPr b="1"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K. Hinkelmann, “Neural Networks,” University of Applied Sciences Northwestern Switzerland, lecture notes, 2018. (Originally available as a PDF; archived and retrieved 6 Oct. 2018.)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5022300" y="768900"/>
            <a:ext cx="3288300" cy="4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Porygon artwork (image 1)</a:t>
            </a:r>
            <a:endParaRPr b="1"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Unknown artist. </a:t>
            </a:r>
            <a:r>
              <a:rPr i="1" lang="en" sz="600"/>
              <a:t>Porygon artwork</a:t>
            </a:r>
            <a:r>
              <a:rPr lang="en" sz="600"/>
              <a:t> ImageImageImage. Google-hosted thumbnail. Retrieved December 7, 2025, from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14"/>
              </a:rPr>
              <a:t>https://encrypted-tbn0.gstatic.com/images?q=tbn:ANd9GcTXyypcG4qtUFScv-xo7UNzvqdEyAHhb40w4Q&amp;s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/>
              <a:t>Porygon official art (high-res)</a:t>
            </a:r>
            <a:br>
              <a:rPr b="1" lang="en" sz="600"/>
            </a:br>
            <a:r>
              <a:rPr lang="en" sz="600"/>
              <a:t> The Pokémon Company. </a:t>
            </a:r>
            <a:r>
              <a:rPr i="1" lang="en" sz="600"/>
              <a:t>Porygon official artwork</a:t>
            </a:r>
            <a:r>
              <a:rPr lang="en" sz="600"/>
              <a:t> ImageImageImage. Pokémon Wiki (Fandom). Retrieved December 7, 2025, from</a:t>
            </a:r>
            <a:br>
              <a:rPr lang="en" sz="600"/>
            </a:br>
            <a:r>
              <a:rPr lang="en" sz="600">
                <a:uFill>
                  <a:noFill/>
                </a:uFill>
                <a:hlinkClick r:id="rId15"/>
              </a:rPr>
              <a:t> </a:t>
            </a:r>
            <a:r>
              <a:rPr lang="en" sz="600" u="sng">
                <a:solidFill>
                  <a:schemeClr val="hlink"/>
                </a:solidFill>
                <a:hlinkClick r:id="rId16"/>
              </a:rPr>
              <a:t>https://static.wikia.nocookie.net/pokemon/images/8/8e/0137Porygon.png/revision/latest/scale-to-width-down/1200?cb=20240724205447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/>
              <a:t>Bar chart generator tool</a:t>
            </a:r>
            <a:br>
              <a:rPr b="1" lang="en" sz="600"/>
            </a:br>
            <a:r>
              <a:rPr lang="en" sz="600"/>
              <a:t> Draxler. </a:t>
            </a:r>
            <a:r>
              <a:rPr i="1" lang="en" sz="600"/>
              <a:t>Bar Chart Generator</a:t>
            </a:r>
            <a:r>
              <a:rPr lang="en" sz="600"/>
              <a:t> WebtoolWeb toolWebtool. Retrieved December 7, 2025, from</a:t>
            </a:r>
            <a:br>
              <a:rPr lang="en" sz="600"/>
            </a:br>
            <a:r>
              <a:rPr lang="en" sz="600">
                <a:uFill>
                  <a:noFill/>
                </a:uFill>
                <a:hlinkClick r:id="rId17"/>
              </a:rPr>
              <a:t> </a:t>
            </a:r>
            <a:r>
              <a:rPr lang="en" sz="600" u="sng">
                <a:solidFill>
                  <a:schemeClr val="hlink"/>
                </a:solidFill>
                <a:hlinkClick r:id="rId18"/>
              </a:rPr>
              <a:t>https://www.draxlr.com/tools/bar-chart-generator/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/>
              <a:t>Diagram tool</a:t>
            </a:r>
            <a:br>
              <a:rPr b="1" lang="en" sz="600"/>
            </a:br>
            <a:r>
              <a:rPr lang="en" sz="600"/>
              <a:t> Eraser. </a:t>
            </a:r>
            <a:r>
              <a:rPr i="1" lang="en" sz="600"/>
              <a:t>DiagramGPT – Diagramming Tool</a:t>
            </a:r>
            <a:r>
              <a:rPr lang="en" sz="600"/>
              <a:t> WebtoolWeb toolWebtool. Retrieved December 7, 2025, from</a:t>
            </a:r>
            <a:br>
              <a:rPr lang="en" sz="600"/>
            </a:br>
            <a:r>
              <a:rPr lang="en" sz="600">
                <a:uFill>
                  <a:noFill/>
                </a:uFill>
                <a:hlinkClick r:id="rId19"/>
              </a:rPr>
              <a:t> </a:t>
            </a:r>
            <a:r>
              <a:rPr lang="en" sz="600" u="sng">
                <a:solidFill>
                  <a:schemeClr val="hlink"/>
                </a:solidFill>
                <a:hlinkClick r:id="rId20"/>
              </a:rPr>
              <a:t>https://www.eraser.io/diagramgpt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"/>
              <a:t>Porygon2 artwork</a:t>
            </a:r>
            <a:br>
              <a:rPr b="1" lang="en" sz="600"/>
            </a:br>
            <a:r>
              <a:rPr lang="en" sz="600"/>
              <a:t> The Pokémon Company. </a:t>
            </a:r>
            <a:r>
              <a:rPr i="1" lang="en" sz="600"/>
              <a:t>Porygon2 official artwork</a:t>
            </a:r>
            <a:r>
              <a:rPr lang="en" sz="600"/>
              <a:t> ImageImageImage. Bulbagarden Archives. Retrieved December 7, 2025, from</a:t>
            </a:r>
            <a:br>
              <a:rPr lang="en" sz="600"/>
            </a:br>
            <a:r>
              <a:rPr lang="en" sz="600">
                <a:uFill>
                  <a:noFill/>
                </a:uFill>
                <a:hlinkClick r:id="rId21"/>
              </a:rPr>
              <a:t> </a:t>
            </a:r>
            <a:r>
              <a:rPr lang="en" sz="600" u="sng">
                <a:solidFill>
                  <a:schemeClr val="hlink"/>
                </a:solidFill>
                <a:hlinkClick r:id="rId22"/>
              </a:rPr>
              <a:t>https://archives.bulbagarden.net/media/upload/b/b8/0233Porygon2.png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Reinforcement learning diagram</a:t>
            </a:r>
            <a:br>
              <a:rPr b="1" lang="en" sz="600"/>
            </a:br>
            <a:r>
              <a:rPr lang="en" sz="600"/>
              <a:t> Unknown author. </a:t>
            </a:r>
            <a:r>
              <a:rPr i="1" lang="en" sz="600"/>
              <a:t>Reinforcement learning agent–environment loop</a:t>
            </a:r>
            <a:r>
              <a:rPr lang="en" sz="600"/>
              <a:t> DiagramDiagramDiagram. Wikimedia Commons. Retrieved December 7, 2025, from</a:t>
            </a:r>
            <a:br>
              <a:rPr lang="en" sz="600"/>
            </a:br>
            <a:r>
              <a:rPr lang="en" sz="600">
                <a:uFill>
                  <a:noFill/>
                </a:uFill>
                <a:hlinkClick r:id="rId23"/>
              </a:rPr>
              <a:t> </a:t>
            </a:r>
            <a:r>
              <a:rPr lang="en" sz="600" u="sng">
                <a:solidFill>
                  <a:schemeClr val="hlink"/>
                </a:solidFill>
                <a:hlinkClick r:id="rId24"/>
              </a:rPr>
              <a:t>https://upload.wikimedia.org/wikipedia/commons/thumb/1/1b/Reinforcement_learning_diagram.svg/500px-Reinforcement_learning_diagram.svg.png</a:t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/>
              <a:t>Porygon-Z artwork</a:t>
            </a:r>
            <a:endParaRPr b="1"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The Pokémon Company. </a:t>
            </a:r>
            <a:r>
              <a:rPr i="1" lang="en" sz="600"/>
              <a:t>Porygon-Z HOME artwork</a:t>
            </a:r>
            <a:r>
              <a:rPr lang="en" sz="600"/>
              <a:t> ImageImageImage. Bulbagarden Archives. Retrieved December 8, 2025, from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25"/>
              </a:rPr>
              <a:t>https://archives.bulbagarden.net/media/upload/thumb/b/b6/HOME0474.png/200px-HOME0474.png</a:t>
            </a:r>
            <a:endParaRPr sz="100"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